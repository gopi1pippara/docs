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" Type="http://schemas.openxmlformats.org/officeDocument/2006/relationships/slide" Target="slides/slide1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" Type="http://schemas.openxmlformats.org/officeDocument/2006/relationships/slide" Target="slides/slide2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" Type="http://schemas.openxmlformats.org/officeDocument/2006/relationships/slide" Target="slides/slide3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GitHub </a:t>
            </a:r>
            <a:r>
              <a:rPr dirty="0" smtClean="0"/>
              <a:t>Copilot</a:t>
            </a:r>
            <a:r>
              <a:rPr lang="en-US" dirty="0" smtClean="0"/>
              <a:t> instruction file</a:t>
            </a:r>
            <a:r>
              <a:rPr dirty="0" smtClean="0"/>
              <a:t> </a:t>
            </a:r>
            <a:r>
              <a:rPr dirty="0"/>
              <a:t>for Java Developers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Using Copilot + Instructions File in IntelliJ IDEA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How </a:t>
            </a:r>
            <a:r>
              <a:rPr dirty="0"/>
              <a:t>Copilot works with Java in IntelliJ IDEA</a:t>
            </a:r>
          </a:p>
          <a:p>
            <a:r>
              <a:rPr dirty="0"/>
              <a:t>Using a Copilot instructions file for your team/project</a:t>
            </a:r>
          </a:p>
          <a:p>
            <a:r>
              <a:rPr dirty="0"/>
              <a:t>Hands‑on Java examples </a:t>
            </a:r>
            <a:r>
              <a:rPr lang="en-US" dirty="0" smtClean="0"/>
              <a:t>to solve using instruction file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GitHub Copilot?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AI coding assistant from GitHub, powered by large language models (LLMs)</a:t>
            </a:r>
          </a:p>
          <a:p>
            <a:r>
              <a:t>Understands your current file, project context, and comments</a:t>
            </a:r>
          </a:p>
          <a:p>
            <a:r>
              <a:t>Suggests whole lines, blocks, or functions as you type</a:t>
            </a:r>
          </a:p>
          <a:p>
            <a:r>
              <a:t>Supports Java, Spring Boot, tests, config files, and more</a:t>
            </a:r>
          </a:p>
          <a:p>
            <a:r>
              <a:t>Integrates directly into IDEs like IntelliJ IDEA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Copilot Instructions File?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A markdown file (e.g. copilot-instructions.md) checked into your repo</a:t>
            </a:r>
          </a:p>
          <a:p>
            <a:r>
              <a:t>Gives Copilot extra context about your project and coding standards</a:t>
            </a:r>
          </a:p>
          <a:p>
            <a:r>
              <a:t>Defines how you want code to be generated: style, patterns, frameworks</a:t>
            </a:r>
          </a:p>
          <a:p>
            <a:r>
              <a:t>Acts like a shared "Project README" for the AI assistant</a:t>
            </a:r>
          </a:p>
          <a:p>
            <a:r>
              <a:t>Helps teams get consistent, predictable suggestions across the codebase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Contents of Instructions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Project context: domain, key modules, and business terminology</a:t>
            </a:r>
          </a:p>
          <a:p>
            <a:r>
              <a:t>Technology stack: Java version, Spring Boot version, testing frameworks</a:t>
            </a:r>
          </a:p>
          <a:p>
            <a:r>
              <a:t>Coding style: naming conventions, package structure, logging standards</a:t>
            </a:r>
          </a:p>
          <a:p>
            <a:r>
              <a:t>Architecture rules: hexagonal/clean architecture, layers, boundaries</a:t>
            </a:r>
          </a:p>
          <a:p>
            <a:r>
              <a:t>Security, validation, and error‑handling guidelines</a:t>
            </a:r>
          </a:p>
          <a:p>
            <a:r>
              <a:t>Examples of good code vs. code smells to avoid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Sample Instructions Snippet (Conceptual)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• Use Java 17, Spring Boot 3.x, and Spring Web for REST APIs.</a:t>
            </a:r>
          </a:p>
          <a:p>
            <a:r>
              <a:t>• Prefer constructor injection, not field injection.</a:t>
            </a:r>
          </a:p>
          <a:p>
            <a:r>
              <a:t>• Use SLF4J logging with parameterized messages and no System.out.</a:t>
            </a:r>
          </a:p>
          <a:p>
            <a:r>
              <a:t>• For REST controllers, return ResponseEntity&lt;T&gt; with proper status codes.</a:t>
            </a:r>
          </a:p>
          <a:p>
            <a:r>
              <a:t>• Unit tests must use JUnit 5 and Mockito; aim for readable, AAA style tests.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Java Example #1 – Spring Boot REST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Goal: Generate a basic REST controller for Customer operations.</a:t>
            </a:r>
          </a:p>
          <a:p>
            <a:r>
              <a:t>1. Add a comment like:</a:t>
            </a:r>
          </a:p>
          <a:p>
            <a:r>
              <a:t>   // Create a REST controller for /customers with CRUD methods using Spring Boot</a:t>
            </a:r>
          </a:p>
          <a:p>
            <a:r>
              <a:t>2. Start typing class and method signatures – accept Copilot suggestions.</a:t>
            </a:r>
          </a:p>
          <a:p>
            <a:r>
              <a:t>3. Ensure it follows your instructions file (constructor injection, logging, etc.).</a:t>
            </a:r>
          </a:p>
          <a:p>
            <a:r>
              <a:t>4. Review and adjust response codes, validation, and error handling.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Java Example #2 – JUnit Test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Goal: Create unit tests for a service class (CustomerService).</a:t>
            </a:r>
          </a:p>
          <a:p>
            <a:r>
              <a:t>1. Open CustomerServiceTest.java (or create it).</a:t>
            </a:r>
          </a:p>
          <a:p>
            <a:r>
              <a:t>2. Add a comment:</a:t>
            </a:r>
          </a:p>
          <a:p>
            <a:r>
              <a:t>   // Write JUnit 5 tests for CustomerService using Mockito, happy and error paths</a:t>
            </a:r>
          </a:p>
          <a:p>
            <a:r>
              <a:t>3. Let Copilot propose test methods and assertions.</a:t>
            </a:r>
          </a:p>
          <a:p>
            <a:r>
              <a:t>4. Verify proper mocks, interactions, and edge cases per project guidelines.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Java Example #3 – Refactoring Legacy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Goal: Improve readability and structure of a large legacy method.</a:t>
            </a:r>
          </a:p>
          <a:p>
            <a:r>
              <a:t>1. Add a comment:</a:t>
            </a:r>
          </a:p>
          <a:p>
            <a:r>
              <a:t>   // Refactor this method into smaller, readable private methods, no behavior change</a:t>
            </a:r>
          </a:p>
          <a:p>
            <a:r>
              <a:t>2. Start extracting methods; Copilot can suggest new method bodies and names.</a:t>
            </a:r>
          </a:p>
          <a:p>
            <a:r>
              <a:t>3. Use Copilot to introduce value objects, enums, or records if appropriate.</a:t>
            </a:r>
          </a:p>
          <a:p>
            <a:r>
              <a:t>4. Run tests to ensure behavior is unchanged.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for Java Developers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Always review suggestions like code from a junior teammate.</a:t>
            </a:r>
          </a:p>
          <a:p>
            <a:r>
              <a:t>Seed Copilot with good comments and meaningful method names.</a:t>
            </a:r>
          </a:p>
          <a:p>
            <a:r>
              <a:t>Let the instructions file encode your team’s standards and architecture rules.</a:t>
            </a:r>
          </a:p>
          <a:p>
            <a:r>
              <a:t>Use Copilot for repetitive patterns: DTOs, mappers, test scaffolding, configs.</a:t>
            </a:r>
          </a:p>
          <a:p>
            <a:r>
              <a:t>Combine with static analysis and code review for safety and quality.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Pitfalls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Copilot may hallucinate APIs or methods that don’t exist.</a:t>
            </a:r>
          </a:p>
          <a:p>
            <a:r>
              <a:t>Generated code might not follow your performance or security constraints.</a:t>
            </a:r>
          </a:p>
          <a:p>
            <a:r>
              <a:t>Large methods or unclear names lead to weaker suggestions.</a:t>
            </a:r>
          </a:p>
          <a:p>
            <a:r>
              <a:t>Do not paste or describe highly sensitive data in prompts/comments.</a:t>
            </a:r>
          </a:p>
          <a:p>
            <a:r>
              <a:t>Still need human design decisions, domain understanding, and reviews.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Rolling Out Copilot in Your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Start with a pilot group of experienced Java developers.</a:t>
            </a:r>
          </a:p>
          <a:p>
            <a:r>
              <a:t>Define and maintain a shared copilot-instructions.md in each major repo.</a:t>
            </a:r>
          </a:p>
          <a:p>
            <a:r>
              <a:t>Track productivity and quality metrics before/after the pilot.</a:t>
            </a:r>
          </a:p>
          <a:p>
            <a:r>
              <a:t>Share examples of effective prompts and patterns in code reviews.</a:t>
            </a:r>
          </a:p>
          <a:p>
            <a:r>
              <a:t>Expand usage gradually and refine instructions based on feedback.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GitHub Copilot can significantly speed up Java development in IntelliJ IDEA.</a:t>
            </a:r>
          </a:p>
          <a:p>
            <a:r>
              <a:t>An instructions file guides Copilot towards your team’s standards.</a:t>
            </a:r>
          </a:p>
          <a:p>
            <a:r>
              <a:t>Use Copilot heavily for boilerplate, tests, and refactors – review carefully.</a:t>
            </a:r>
          </a:p>
          <a:p>
            <a:r>
              <a:t>Treat it as an assistant, not a replacement, for engineering judgment.</a:t>
            </a:r>
          </a:p>
          <a:p>
            <a:r>
              <a:t>Next step: create an instructions file and try the example flows in your project.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Focus on the Instructions File?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instructions file is the "brain" that guides Copilot in your repo.</a:t>
            </a:r>
          </a:p>
          <a:p>
            <a:pPr/>
            <a:r>
              <a:t>Without it, suggestions are generic and may not match your architecture.</a:t>
            </a:r>
          </a:p>
          <a:p>
            <a:pPr/>
            <a:r>
              <a:t>With it, suggestions follow your layers, naming, logging, and security rules.</a:t>
            </a:r>
          </a:p>
          <a:p>
            <a:pPr/>
            <a:r>
              <a:t>Teams can encode tribal knowledge once and reuse it across microservices.</a:t>
            </a:r>
          </a:p>
          <a:p>
            <a:pPr/>
            <a:r>
              <a:t>Great instructions file → higher‑quality suggestions → less rework.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Designing Your copilot-instructions.md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Keep it short, opinionated, and example‑driven (2–4 pages).</a:t>
            </a:r>
          </a:p>
          <a:p>
            <a:pPr/>
            <a:r>
              <a:t>Split into sections: Domain, Tech Stack, Architecture, Coding Standards, Testing.</a:t>
            </a:r>
          </a:p>
          <a:p>
            <a:pPr/>
            <a:r>
              <a:t>Prefer concrete rules over vague guidance.</a:t>
            </a:r>
          </a:p>
          <a:p>
            <a:pPr/>
            <a:r>
              <a:t>Show small before/after Java snippets so Copilot learns good patterns.</a:t>
            </a:r>
          </a:p>
          <a:p>
            <a:pPr/>
            <a:r>
              <a:t>Review &amp; evolve the file just like production code (PRs, reviews, owners).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Class Scenario – Legacy CustomerService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000">
                <a:latin typeface="Consolas"/>
              </a:rPr>
              <a:t>public class CustomerService {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private CustomerRepository customerRepository;
</a:t>
            </a:r>
            <a:r>
              <a:rPr sz="1000">
                <a:latin typeface="Consolas"/>
              </a:rPr>
              <a:t>    private Logger logger = Logger.getLogger(CustomerService.class.getName());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Customer findCustomer(String id) {
</a:t>
            </a:r>
            <a:r>
              <a:rPr sz="1000">
                <a:latin typeface="Consolas"/>
              </a:rPr>
              <a:t>        logger.info("Finding customer " + id);
</a:t>
            </a:r>
            <a:r>
              <a:rPr sz="1000">
                <a:latin typeface="Consolas"/>
              </a:rPr>
              <a:t>        Customer customer = customerRepository.findById(id);
</a:t>
            </a:r>
            <a:r>
              <a:rPr sz="1000">
                <a:latin typeface="Consolas"/>
              </a:rPr>
              <a:t>        if (customer == null) {
</a:t>
            </a:r>
            <a:r>
              <a:rPr sz="1000">
                <a:latin typeface="Consolas"/>
              </a:rPr>
              <a:t>            throw new RuntimeException("Customer not found");
</a:t>
            </a:r>
            <a:r>
              <a:rPr sz="1000">
                <a:latin typeface="Consolas"/>
              </a:rPr>
              <a:t>        }
</a:t>
            </a:r>
            <a:r>
              <a:rPr sz="1000">
                <a:latin typeface="Consolas"/>
              </a:rPr>
              <a:t>        return customer;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void updateEmail(String id, String email) {
</a:t>
            </a:r>
            <a:r>
              <a:rPr sz="1000">
                <a:latin typeface="Consolas"/>
              </a:rPr>
              <a:t>        Customer customer = customerRepository.findById(id);
</a:t>
            </a:r>
            <a:r>
              <a:rPr sz="1000">
                <a:latin typeface="Consolas"/>
              </a:rPr>
              <a:t>        customer.setEmail(email);
</a:t>
            </a:r>
            <a:r>
              <a:rPr sz="1000">
                <a:latin typeface="Consolas"/>
              </a:rPr>
              <a:t>        customerRepository.save(customer);
</a:t>
            </a:r>
            <a:r>
              <a:rPr sz="1000">
                <a:latin typeface="Consolas"/>
              </a:rPr>
              <a:t>        System.out.println("Updated email for " + id);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}
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Problems in This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Field injection for repository (harder to test, unclear dependencies).</a:t>
            </a:r>
          </a:p>
          <a:p>
            <a:pPr/>
            <a:r>
              <a:t>Uses java.util.logging and System.out instead of standard SLF4J pattern.</a:t>
            </a:r>
          </a:p>
          <a:p>
            <a:pPr/>
            <a:r>
              <a:t>Throws raw RuntimeException without error code or domain meaning.</a:t>
            </a:r>
          </a:p>
          <a:p>
            <a:pPr/>
            <a:r>
              <a:t>No validation for id/email, no null checks on update path.</a:t>
            </a:r>
          </a:p>
          <a:p>
            <a:pPr/>
            <a:r>
              <a:t>Business rules and technical concerns mixed together.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Instructions File – Rules to Fix This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Use constructor injection for all Spring components (no field injection).</a:t>
            </a:r>
          </a:p>
          <a:p>
            <a:pPr/>
            <a:r>
              <a:t>• Use SLF4J with parameterized logging; no System.out.println allowed.</a:t>
            </a:r>
          </a:p>
          <a:p>
            <a:pPr/>
            <a:r>
              <a:t>• Service methods must throw domain‑specific exceptions (e.g. CustomerNotFoundException).</a:t>
            </a:r>
          </a:p>
          <a:p>
            <a:pPr/>
            <a:r>
              <a:t>• All public service methods validate inputs and log at DEBUG/INFO, errors at ERROR.</a:t>
            </a:r>
          </a:p>
          <a:p>
            <a:pPr/>
            <a:r>
              <a:t>• Repository access is wrapped in Optional to avoid null checks.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Refactored CustomerService – Guided by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000">
                <a:latin typeface="Consolas"/>
              </a:rPr>
              <a:t>@Service
</a:t>
            </a:r>
            <a:r>
              <a:rPr sz="1000">
                <a:latin typeface="Consolas"/>
              </a:rPr>
              <a:t>public class CustomerService {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private static final Logger log = LoggerFactory.getLogger(CustomerService.class);
</a:t>
            </a:r>
            <a:r>
              <a:rPr sz="1000">
                <a:latin typeface="Consolas"/>
              </a:rPr>
              <a:t>    private final CustomerRepository customerRepository;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CustomerService(CustomerRepository customerRepository) {
</a:t>
            </a:r>
            <a:r>
              <a:rPr sz="1000">
                <a:latin typeface="Consolas"/>
              </a:rPr>
              <a:t>        this.customerRepository = customerRepository;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Customer findCustomer(String id) {
</a:t>
            </a:r>
            <a:r>
              <a:rPr sz="1000">
                <a:latin typeface="Consolas"/>
              </a:rPr>
              <a:t>        validateId(id);
</a:t>
            </a:r>
            <a:r>
              <a:rPr sz="1000">
                <a:latin typeface="Consolas"/>
              </a:rPr>
              <a:t>        return customerRepository.findById(id)
</a:t>
            </a:r>
            <a:r>
              <a:rPr sz="1000">
                <a:latin typeface="Consolas"/>
              </a:rPr>
              <a:t>                .orElseThrow(() -&gt; new CustomerNotFoundException(id));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void updateEmail(String id, String email) {
</a:t>
            </a:r>
            <a:r>
              <a:rPr sz="1000">
                <a:latin typeface="Consolas"/>
              </a:rPr>
              <a:t>        validateId(id);
</a:t>
            </a:r>
            <a:r>
              <a:rPr sz="1000">
                <a:latin typeface="Consolas"/>
              </a:rPr>
              <a:t>        validateEmail(email);
</a:t>
            </a:r>
            <a:r>
              <a:rPr sz="1000">
                <a:latin typeface="Consolas"/>
              </a:rPr>
              <a:t>        Customer customer = findCustomer(id);
</a:t>
            </a:r>
            <a:r>
              <a:rPr sz="1000">
                <a:latin typeface="Consolas"/>
              </a:rPr>
              <a:t>        customer.setEmail(email);
</a:t>
            </a:r>
            <a:r>
              <a:rPr sz="1000">
                <a:latin typeface="Consolas"/>
              </a:rPr>
              <a:t>        customerRepository.save(customer);
</a:t>
            </a:r>
            <a:r>
              <a:rPr sz="1000">
                <a:latin typeface="Consolas"/>
              </a:rPr>
              <a:t>        log.info("Updated email for customerId={}", id);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private void validateId(String id) {
</a:t>
            </a:r>
            <a:r>
              <a:rPr sz="1000">
                <a:latin typeface="Consolas"/>
              </a:rPr>
              <a:t>        if (id == null || id.isBlank()) {
</a:t>
            </a:r>
            <a:r>
              <a:rPr sz="1000">
                <a:latin typeface="Consolas"/>
              </a:rPr>
              <a:t>            throw new IllegalArgumentException("id must not be blank");
</a:t>
            </a:r>
            <a:r>
              <a:rPr sz="1000">
                <a:latin typeface="Consolas"/>
              </a:rPr>
              <a:t>        }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private void validateEmail(String email) {
</a:t>
            </a:r>
            <a:r>
              <a:rPr sz="1000">
                <a:latin typeface="Consolas"/>
              </a:rPr>
              <a:t>        // reuse shared validation util or pattern from instructions file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}
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Copilot Uses the Instructions File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You write a comment: // Refactor to use constructor injection and SLF4J logging per guidelines.</a:t>
            </a:r>
          </a:p>
          <a:p>
            <a:pPr/>
            <a:r>
              <a:t>Copilot proposes a constructor + final fields instead of field injection.</a:t>
            </a:r>
          </a:p>
          <a:p>
            <a:pPr/>
            <a:r>
              <a:t>Logging suggestions follow SLF4J pattern with placeholders and no string concat.</a:t>
            </a:r>
          </a:p>
          <a:p>
            <a:pPr/>
            <a:r>
              <a:t>When you type Optional&lt;Customer&gt;, Copilot completes orElseThrow with custom exception.</a:t>
            </a:r>
          </a:p>
          <a:p>
            <a:pPr/>
            <a:r>
              <a:t>Validation helpers and exception names follow examples from your instructions file.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Scenario – Incomplete OrderService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000">
                <a:latin typeface="Consolas"/>
              </a:rPr>
              <a:t>@Service
</a:t>
            </a:r>
            <a:r>
              <a:rPr sz="1000">
                <a:latin typeface="Consolas"/>
              </a:rPr>
              <a:t>public class OrderService {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@Autowired
</a:t>
            </a:r>
            <a:r>
              <a:rPr sz="1000">
                <a:latin typeface="Consolas"/>
              </a:rPr>
              <a:t>    private OrderRepository orderRepository;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void placeOrder(OrderRequest request) {
</a:t>
            </a:r>
            <a:r>
              <a:rPr sz="1000">
                <a:latin typeface="Consolas"/>
              </a:rPr>
              <a:t>        // TODO: implement later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}
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Instructions File to Drive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Instructions define:</a:t>
            </a:r>
          </a:p>
          <a:p>
            <a:pPr/>
            <a:r>
              <a:t>• Use transactional boundaries at service layer.</a:t>
            </a:r>
          </a:p>
          <a:p>
            <a:pPr/>
            <a:r>
              <a:t>• Validate request DTOs using Bean Validation annotations and custom validators.</a:t>
            </a:r>
          </a:p>
          <a:p>
            <a:pPr/>
            <a:r>
              <a:t>• Publish domain events for important state transitions.</a:t>
            </a:r>
          </a:p>
          <a:p>
            <a:pPr/>
            <a:r>
              <a:t>Developer comment:</a:t>
            </a:r>
          </a:p>
          <a:p>
            <a:pPr/>
            <a:r>
              <a:t>"// Implement placeOrder with validation, transaction, and domain event publishing"</a:t>
            </a:r>
          </a:p>
          <a:p>
            <a:pPr/>
            <a:r>
              <a:t>Copilot suggests the full method skeleton aligned with these rules.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Patterns for Java + Instructions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“// Using project guidelines, create a service method to …”</a:t>
            </a:r>
          </a:p>
          <a:p>
            <a:pPr/>
            <a:r>
              <a:t>“// Following our logging and exception rules, handle error cases for …”</a:t>
            </a:r>
          </a:p>
          <a:p>
            <a:pPr/>
            <a:r>
              <a:t>“// Generate JUnit 5 tests for this class, using Mockito as in the examples.”</a:t>
            </a:r>
          </a:p>
          <a:p>
            <a:pPr/>
            <a:r>
              <a:t>“// Apply our hexagonal architecture style to split this logic into ports/adapters.”</a:t>
            </a:r>
          </a:p>
          <a:p>
            <a:pPr/>
            <a:r>
              <a:t>“// Refactor to match the sample in copilot-instructions.md: …”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Instructions File Influences Suggestions</a:t>
            </a:r>
          </a:p>
        </p:txBody>
      </p:sp>
      <p:pic>
        <p:nvPicPr>
          <p:cNvPr id="3" name="Picture 2" descr="copilo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6271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Animations idea: reveal each block and arrow step‑by‑step while explaining the flow.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Checklist for a Strong Instructions File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27432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/>
              <a:t>1. Opinionated rules</a:t>
            </a:r>
          </a:p>
          <a:p>
            <a:r>
              <a:rPr sz="1600"/>
              <a:t>(no "it depends")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7432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/>
              <a:t>2. Short examples</a:t>
            </a:r>
          </a:p>
          <a:p>
            <a:r>
              <a:rPr sz="1600"/>
              <a:t>(before vs after Java snippets)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27432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/>
              <a:t>3. Kept in sync</a:t>
            </a:r>
          </a:p>
          <a:p>
            <a:r>
              <a:rPr sz="1600"/>
              <a:t>with architecture decisions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Instructions File Example (Excerpt)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000">
                <a:latin typeface="Consolas"/>
              </a:rPr>
              <a:t># GitHub Copilot Instructions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## General Coding Principles
</a:t>
            </a:r>
            <a:r>
              <a:rPr sz="1000">
                <a:latin typeface="Consolas"/>
              </a:rPr>
              <a:t>- Write clean, production-quality Java 17+ code.
</a:t>
            </a:r>
            <a:r>
              <a:rPr sz="1000">
                <a:latin typeface="Consolas"/>
              </a:rPr>
              <a:t>- Follow SOLID and DRY principles.
</a:t>
            </a:r>
            <a:r>
              <a:rPr sz="1000">
                <a:latin typeface="Consolas"/>
              </a:rPr>
              <a:t>- Use meaningful variable and method names.
</a:t>
            </a:r>
            <a:r>
              <a:rPr sz="1000">
                <a:latin typeface="Consolas"/>
              </a:rPr>
              <a:t>- Prefer functional styles where appropriate.
</a:t>
            </a:r>
            <a:r>
              <a:rPr sz="1000">
                <a:latin typeface="Consolas"/>
              </a:rPr>
              <a:t>- Avoid commented‑out code and unused imports.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## Formatting &amp; Style
</a:t>
            </a:r>
            <a:r>
              <a:rPr sz="1000">
                <a:latin typeface="Consolas"/>
              </a:rPr>
              <a:t>- Follow Google Java Format standards.
</a:t>
            </a:r>
            <a:r>
              <a:rPr sz="1000">
                <a:latin typeface="Consolas"/>
              </a:rPr>
              <a:t>- Use 4‑space indentation; no tabs; max line length ~120 chars.
</a:t>
            </a:r>
            <a:r>
              <a:rPr sz="1000">
                <a:latin typeface="Consolas"/>
              </a:rPr>
              <a:t>- Add a newline at the end of each file.
</a:t>
            </a:r>
            <a:r>
              <a:rPr sz="1000">
                <a:latin typeface="Consolas"/>
              </a:rPr>
              <a:t>- Use consistent spacing around operators, commas, and keywords.
</a:t>
            </a:r>
            <a:r>
              <a:rPr sz="1000">
                <a:latin typeface="Consolas"/>
              </a:rPr>
              <a:t>
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976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Tip: Animate each section (General, Formatting, Logging, Testing) to appear one-by-one while you explain.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This Instructions File Steers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Copilot reads this file as part of the project context.</a:t>
            </a:r>
          </a:p>
          <a:p>
            <a:pPr/>
            <a:r>
              <a:t>Suggestions for Java classes use Java 17+, SOLID, and your logging rules by default.</a:t>
            </a:r>
          </a:p>
          <a:p>
            <a:pPr/>
            <a:r>
              <a:t>Null-handling, logging style, and method naming follow the examples in this document.</a:t>
            </a:r>
          </a:p>
          <a:p>
            <a:pPr/>
            <a:r>
              <a:t>When you request tests, Copilot proposes JUnit 5 + Mockito patterns from the guidelines.</a:t>
            </a:r>
          </a:p>
          <a:p>
            <a:pPr/>
            <a:r>
              <a:t>Code reviews can now ask: “Does this follow copilot-instructions.md?” instead of subjective preferences.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Java Class – RiskyBusiness (Before)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000">
                <a:latin typeface="Consolas"/>
              </a:rPr>
              <a:t>package com.syf.provider.apply.component.service.util;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import java.util.List;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public class RiskyBusiness {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private String name;              // may be null
</a:t>
            </a:r>
            <a:r>
              <a:rPr sz="1000">
                <a:latin typeface="Consolas"/>
              </a:rPr>
              <a:t>    private List&lt;String&gt; items;       // may be null
</a:t>
            </a:r>
            <a:r>
              <a:rPr sz="1000">
                <a:latin typeface="Consolas"/>
              </a:rPr>
              <a:t>    private Collaborator collaborator; // may be null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RiskyBusiness() {
</a:t>
            </a:r>
            <a:r>
              <a:rPr sz="1000">
                <a:latin typeface="Consolas"/>
              </a:rPr>
              <a:t>        // default constructor, does no initialization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RiskyBusiness(String name, Collaborator collaborator) {
</a:t>
            </a:r>
            <a:r>
              <a:rPr sz="1000">
                <a:latin typeface="Consolas"/>
              </a:rPr>
              <a:t>        this.name = name;            // may be null
</a:t>
            </a:r>
            <a:r>
              <a:rPr sz="1000">
                <a:latin typeface="Consolas"/>
              </a:rPr>
              <a:t>        this.collaborator = collaborator; // may be null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void printNameLength() {
</a:t>
            </a:r>
            <a:r>
              <a:rPr sz="1000">
                <a:latin typeface="Consolas"/>
              </a:rPr>
              <a:t>        // Potential NPE if name is null
</a:t>
            </a:r>
            <a:r>
              <a:rPr sz="1000">
                <a:latin typeface="Consolas"/>
              </a:rPr>
              <a:t>        System.out.println(name.length());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void addItem(String item) {
</a:t>
            </a:r>
            <a:r>
              <a:rPr sz="1000">
                <a:latin typeface="Consolas"/>
              </a:rPr>
              <a:t>        // Potential NPE if items is never initialized
</a:t>
            </a:r>
            <a:r>
              <a:rPr sz="1000">
                <a:latin typeface="Consolas"/>
              </a:rPr>
              <a:t>        items.add(item);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void processItems() {
</a:t>
            </a:r>
            <a:r>
              <a:rPr sz="1000">
                <a:latin typeface="Consolas"/>
              </a:rPr>
              <a:t>        for (String item : items) {  // items or item can be null
</a:t>
            </a:r>
            <a:r>
              <a:rPr sz="1000">
                <a:latin typeface="Consolas"/>
              </a:rPr>
              <a:t>            System.out.println(item.toLowerCase()); // Potential NPE
</a:t>
            </a:r>
            <a:r>
              <a:rPr sz="1000">
                <a:latin typeface="Consolas"/>
              </a:rPr>
              <a:t>        }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void doWorkWithCollaborator() {
</a:t>
            </a:r>
            <a:r>
              <a:rPr sz="1000">
                <a:latin typeface="Consolas"/>
              </a:rPr>
              <a:t>        // Deep potential NPE if collaborator is null
</a:t>
            </a:r>
            <a:r>
              <a:rPr sz="1000">
                <a:latin typeface="Consolas"/>
              </a:rPr>
              <a:t>        collaborator.printUpperCaseItems(items);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static void main(String[] args) {
</a:t>
            </a:r>
            <a:r>
              <a:rPr sz="1000">
                <a:latin typeface="Consolas"/>
              </a:rPr>
              <a:t>        RiskyBusiness rb1 = new RiskyBusiness();
</a:t>
            </a:r>
            <a:r>
              <a:rPr sz="1000">
                <a:latin typeface="Consolas"/>
              </a:rPr>
              <a:t>        rb1.printNameLength();            // NPE
</a:t>
            </a:r>
            <a:r>
              <a:rPr sz="1000">
                <a:latin typeface="Consolas"/>
              </a:rPr>
              <a:t>        rb1.addItem("test");              // NPE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    RiskyBusiness rb2 = new RiskyBusiness("Alice", null);
</a:t>
            </a:r>
            <a:r>
              <a:rPr sz="1000">
                <a:latin typeface="Consolas"/>
              </a:rPr>
              <a:t>        rb2.doWorkWithCollaborator();     // NPE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}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class Collaborator {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private String name;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Collaborator(String name) {
</a:t>
            </a:r>
            <a:r>
              <a:rPr sz="1000">
                <a:latin typeface="Consolas"/>
              </a:rPr>
              <a:t>        this.name = name;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String getName() {
</a:t>
            </a:r>
            <a:r>
              <a:rPr sz="1000">
                <a:latin typeface="Consolas"/>
              </a:rPr>
              <a:t>        // can return null
</a:t>
            </a:r>
            <a:r>
              <a:rPr sz="1000">
                <a:latin typeface="Consolas"/>
              </a:rPr>
              <a:t>        return name;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void printUpperCaseItems(List&lt;String&gt; items) {
</a:t>
            </a:r>
            <a:r>
              <a:rPr sz="1000">
                <a:latin typeface="Consolas"/>
              </a:rPr>
              <a:t>        items.stream()                    // items might be null
</a:t>
            </a:r>
            <a:r>
              <a:rPr sz="1000">
                <a:latin typeface="Consolas"/>
              </a:rPr>
              <a:t>             .map(String::toUpperCase)    // item might be null
</a:t>
            </a:r>
            <a:r>
              <a:rPr sz="1000">
                <a:latin typeface="Consolas"/>
              </a:rPr>
              <a:t>             .forEach(System.out::println);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}
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What’s Wrong With RiskyBusiness.java?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Multiple potential NullPointerExceptions: name, items, collaborator, and individual list elements.</a:t>
            </a:r>
          </a:p>
          <a:p>
            <a:pPr/>
            <a:r>
              <a:t>No constructor guarantees for invariants (fields may stay null forever).</a:t>
            </a:r>
          </a:p>
          <a:p>
            <a:pPr/>
            <a:r>
              <a:t>System.out.println used for logging instead of SLF4J standard defined in instructions.</a:t>
            </a:r>
          </a:p>
          <a:p>
            <a:pPr/>
            <a:r>
              <a:t>Collaborator API allows nulls and returns null from getter, pushing risk to callers.</a:t>
            </a:r>
          </a:p>
          <a:p>
            <a:pPr/>
            <a:r>
              <a:t>No validation, no defensive programming, and no unit tests safeguard this behavior.</a:t>
            </a:r>
          </a:p>
          <a:p>
            <a:pPr/>
            <a:r>
              <a:t>This class clearly violates several rules from copilot-instructions.md.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Instructions File to Fix RiskyBusiness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Add a guiding comment above the class:</a:t>
            </a:r>
          </a:p>
          <a:p>
            <a:pPr/>
            <a:r>
              <a:t>  // Refactor this class to follow copilot-instructions: null-safety, SLF4J logging, no System.out, Java 17 style.</a:t>
            </a:r>
          </a:p>
          <a:p>
            <a:pPr/>
            <a:r>
              <a:t>Start rewriting the constructors; let Copilot propose final fields and safe defaults.</a:t>
            </a:r>
          </a:p>
          <a:p>
            <a:pPr/>
            <a:r>
              <a:t>Apply logging standards: private static final Logger log = ..., parameterized messages.</a:t>
            </a:r>
          </a:p>
          <a:p>
            <a:pPr/>
            <a:r>
              <a:t>Use Optional and defensive checks instead of allowing naked null values.</a:t>
            </a:r>
          </a:p>
          <a:p>
            <a:pPr/>
            <a:r>
              <a:t>Generate JUnit 5 tests for edge cases (empty items, null inputs) using the testing guidelines.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RiskyBusiness (After) – Guided by Instructions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000">
                <a:latin typeface="Consolas"/>
              </a:rPr>
              <a:t>package com.syf.provider.apply.component.service.util;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import org.slf4j.Logger;
</a:t>
            </a:r>
            <a:r>
              <a:rPr sz="1000">
                <a:latin typeface="Consolas"/>
              </a:rPr>
              <a:t>import org.slf4j.LoggerFactory;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import java.util.ArrayList;
</a:t>
            </a:r>
            <a:r>
              <a:rPr sz="1000">
                <a:latin typeface="Consolas"/>
              </a:rPr>
              <a:t>import java.util.Collections;
</a:t>
            </a:r>
            <a:r>
              <a:rPr sz="1000">
                <a:latin typeface="Consolas"/>
              </a:rPr>
              <a:t>import java.util.List;
</a:t>
            </a:r>
            <a:r>
              <a:rPr sz="1000">
                <a:latin typeface="Consolas"/>
              </a:rPr>
              <a:t>import java.util.Objects;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public class RiskyBusiness {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private static final Logger log = LoggerFactory.getLogger(RiskyBusiness.class);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private final String name;
</a:t>
            </a:r>
            <a:r>
              <a:rPr sz="1000">
                <a:latin typeface="Consolas"/>
              </a:rPr>
              <a:t>    private final List&lt;String&gt; items;
</a:t>
            </a:r>
            <a:r>
              <a:rPr sz="1000">
                <a:latin typeface="Consolas"/>
              </a:rPr>
              <a:t>    private final Collaborator collaborator;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RiskyBusiness(String name, List&lt;String&gt; items, Collaborator collaborator) {
</a:t>
            </a:r>
            <a:r>
              <a:rPr sz="1000">
                <a:latin typeface="Consolas"/>
              </a:rPr>
              <a:t>        this.name = Objects.requireNonNull(name, "name must not be null");
</a:t>
            </a:r>
            <a:r>
              <a:rPr sz="1000">
                <a:latin typeface="Consolas"/>
              </a:rPr>
              <a:t>        this.items = new ArrayList&lt;&gt;(items != null ? items : List.of());
</a:t>
            </a:r>
            <a:r>
              <a:rPr sz="1000">
                <a:latin typeface="Consolas"/>
              </a:rPr>
              <a:t>        this.collaborator = collaborator;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int getNameLength() {
</a:t>
            </a:r>
            <a:r>
              <a:rPr sz="1000">
                <a:latin typeface="Consolas"/>
              </a:rPr>
              <a:t>        return name.length();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void addItem(String item) {
</a:t>
            </a:r>
            <a:r>
              <a:rPr sz="1000">
                <a:latin typeface="Consolas"/>
              </a:rPr>
              <a:t>        if (item == null || item.isBlank()) {
</a:t>
            </a:r>
            <a:r>
              <a:rPr sz="1000">
                <a:latin typeface="Consolas"/>
              </a:rPr>
              <a:t>            log.warn("Ignoring blank item for RiskyBusiness name={}", name);
</a:t>
            </a:r>
            <a:r>
              <a:rPr sz="1000">
                <a:latin typeface="Consolas"/>
              </a:rPr>
              <a:t>            return;
</a:t>
            </a:r>
            <a:r>
              <a:rPr sz="1000">
                <a:latin typeface="Consolas"/>
              </a:rPr>
              <a:t>        }
</a:t>
            </a:r>
            <a:r>
              <a:rPr sz="1000">
                <a:latin typeface="Consolas"/>
              </a:rPr>
              <a:t>        items.add(item);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List&lt;String&gt; getItems() {
</a:t>
            </a:r>
            <a:r>
              <a:rPr sz="1000">
                <a:latin typeface="Consolas"/>
              </a:rPr>
              <a:t>        return Collections.unmodifiableList(items);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void processItems() {
</a:t>
            </a:r>
            <a:r>
              <a:rPr sz="1000">
                <a:latin typeface="Consolas"/>
              </a:rPr>
              <a:t>        items.stream()
</a:t>
            </a:r>
            <a:r>
              <a:rPr sz="1000">
                <a:latin typeface="Consolas"/>
              </a:rPr>
              <a:t>             .map(String::toLowerCase)
</a:t>
            </a:r>
            <a:r>
              <a:rPr sz="1000">
                <a:latin typeface="Consolas"/>
              </a:rPr>
              <a:t>             .forEach(it -&gt; log.info("Processing item name={}, item={}", name, it));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void doWorkWithCollaborator() {
</a:t>
            </a:r>
            <a:r>
              <a:rPr sz="1000">
                <a:latin typeface="Consolas"/>
              </a:rPr>
              <a:t>        if (collaborator == null) {
</a:t>
            </a:r>
            <a:r>
              <a:rPr sz="1000">
                <a:latin typeface="Consolas"/>
              </a:rPr>
              <a:t>            log.error("No collaborator configured for name={}", name);
</a:t>
            </a:r>
            <a:r>
              <a:rPr sz="1000">
                <a:latin typeface="Consolas"/>
              </a:rPr>
              <a:t>            return;
</a:t>
            </a:r>
            <a:r>
              <a:rPr sz="1000">
                <a:latin typeface="Consolas"/>
              </a:rPr>
              <a:t>        }
</a:t>
            </a:r>
            <a:r>
              <a:rPr sz="1000">
                <a:latin typeface="Consolas"/>
              </a:rPr>
              <a:t>        collaborator.printUpperCaseItems(items);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}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class Collaborator {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private final String name;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Collaborator(String name) {
</a:t>
            </a:r>
            <a:r>
              <a:rPr sz="1000">
                <a:latin typeface="Consolas"/>
              </a:rPr>
              <a:t>        this.name = Objects.requireNonNull(name, "name must not be null");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String getName() {
</a:t>
            </a:r>
            <a:r>
              <a:rPr sz="1000">
                <a:latin typeface="Consolas"/>
              </a:rPr>
              <a:t>        return name;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
</a:t>
            </a:r>
            <a:r>
              <a:rPr sz="1000">
                <a:latin typeface="Consolas"/>
              </a:rPr>
              <a:t>    public void printUpperCaseItems(List&lt;String&gt; items) {
</a:t>
            </a:r>
            <a:r>
              <a:rPr sz="1000">
                <a:latin typeface="Consolas"/>
              </a:rPr>
              <a:t>        if (items == null || items.isEmpty()) {
</a:t>
            </a:r>
            <a:r>
              <a:rPr sz="1000">
                <a:latin typeface="Consolas"/>
              </a:rPr>
              <a:t>            return;
</a:t>
            </a:r>
            <a:r>
              <a:rPr sz="1000">
                <a:latin typeface="Consolas"/>
              </a:rPr>
              <a:t>        }
</a:t>
            </a:r>
            <a:r>
              <a:rPr sz="1000">
                <a:latin typeface="Consolas"/>
              </a:rPr>
              <a:t>        items.stream()
</a:t>
            </a:r>
            <a:r>
              <a:rPr sz="1000">
                <a:latin typeface="Consolas"/>
              </a:rPr>
              <a:t>             .filter(Objects::nonNull)
</a:t>
            </a:r>
            <a:r>
              <a:rPr sz="1000">
                <a:latin typeface="Consolas"/>
              </a:rPr>
              <a:t>             .map(String::toUpperCase)
</a:t>
            </a:r>
            <a:r>
              <a:rPr sz="1000">
                <a:latin typeface="Consolas"/>
              </a:rPr>
              <a:t>             .forEach(System.out::println); // could be replaced by log if needed
</a:t>
            </a:r>
            <a:r>
              <a:rPr sz="1000">
                <a:latin typeface="Consolas"/>
              </a:rPr>
              <a:t>    }
</a:t>
            </a:r>
            <a:r>
              <a:rPr sz="1000">
                <a:latin typeface="Consolas"/>
              </a:rPr>
              <a:t>}
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Story: From RiskyBusiness to SafeBusiness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Show the original RiskyBusiness.java and ask the audience to spot risks (NPEs, logging, no tests).</a:t>
            </a:r>
          </a:p>
          <a:p>
            <a:pPr/>
            <a:r>
              <a:t>2. Connect each issue to a specific rule in copilot-instructions.md (null-handling, logging, formatting).</a:t>
            </a:r>
          </a:p>
          <a:p>
            <a:pPr/>
            <a:r>
              <a:t>3. Add a single comment telling Copilot to refactor using those rules.</a:t>
            </a:r>
          </a:p>
          <a:p>
            <a:pPr/>
            <a:r>
              <a:t>4. Accept and tweak the suggested changes until they fully match your standards.</a:t>
            </a:r>
          </a:p>
          <a:p>
            <a:pPr/>
            <a:r>
              <a:t>5. Finally, generate tests from the instructions file and run them live in IntelliJ.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IntelliJ – copilot-instructions.md in Action</a:t>
            </a:r>
          </a:p>
        </p:txBody>
      </p:sp>
      <p:pic>
        <p:nvPicPr>
          <p:cNvPr id="3" name="Picture 2" descr="18cd6fc4-0e39-49a2-beb9-850d99ac37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1463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572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Tip: Use simple appear/fade animations to reveal key regions while you explain.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Instructions File – Testing &amp; Code Review Sections</a:t>
            </a:r>
          </a:p>
        </p:txBody>
      </p:sp>
      <p:pic>
        <p:nvPicPr>
          <p:cNvPr id="3" name="Picture 2" descr="0d4e1e92-3c3b-49e5-b782-f03064cac5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1463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572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Tip: Use simple appear/fade animations to reveal key regions while you explain.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RiskyBusiness.java – Before Refactor (IDE View)</a:t>
            </a:r>
          </a:p>
        </p:txBody>
      </p:sp>
      <p:pic>
        <p:nvPicPr>
          <p:cNvPr id="3" name="Picture 2" descr="deae8719-56f8-40a7-8111-5e5f5e764e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1463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572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Tip: Use simple appear/fade animations to reveal key regions while you explain.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RiskyBusiness.java – Main Method and Collaborator</a:t>
            </a:r>
          </a:p>
        </p:txBody>
      </p:sp>
      <p:pic>
        <p:nvPicPr>
          <p:cNvPr id="3" name="Picture 2" descr="262c6e19-4b5b-47f5-bf8f-9d457bdad6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1463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572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Tip: Use simple appear/fade animations to reveal key regions while you explain.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791</Words>
  <Application>Microsoft Office PowerPoint</Application>
  <PresentationFormat>On-screen Show (4:3)</PresentationFormat>
  <Paragraphs>76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GitHub Copilot instruction file for Java Developers</vt:lpstr>
      <vt:lpstr>Agenda</vt:lpstr>
      <vt:lpstr>What is GitHub Copilot?</vt:lpstr>
      <vt:lpstr>What is a Copilot Instructions File?</vt:lpstr>
      <vt:lpstr>Typical Contents of Instructions File</vt:lpstr>
      <vt:lpstr>Sample Instructions Snippet (Conceptual)</vt:lpstr>
      <vt:lpstr>Java Example #1 – Spring Boot REST API</vt:lpstr>
      <vt:lpstr>Java Example #2 – JUnit Test Generation</vt:lpstr>
      <vt:lpstr>Java Example #3 – Refactoring Legacy Code</vt:lpstr>
      <vt:lpstr>Best Practices for Java Developers</vt:lpstr>
      <vt:lpstr>Pitfalls and Limitations</vt:lpstr>
      <vt:lpstr>Rolling Out Copilot in Your Team</vt:lpstr>
      <vt:lpstr>Key Takeaways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instruction file for Java Developers</dc:title>
  <dc:subject/>
  <dc:creator/>
  <cp:keywords/>
  <dc:description>generated using python-pptx</dc:description>
  <cp:lastModifiedBy>LENOVO</cp:lastModifiedBy>
  <cp:revision>2</cp:revision>
  <dcterms:created xsi:type="dcterms:W3CDTF">2013-01-27T09:14:16Z</dcterms:created>
  <dcterms:modified xsi:type="dcterms:W3CDTF">2025-12-09T02:36:14Z</dcterms:modified>
  <cp:category/>
</cp:coreProperties>
</file>